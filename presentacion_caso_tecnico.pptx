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441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0"/>
            <a:ext cx="7680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Sistema de Analisis Inteligente</a:t>
            </a:r>
            <a:endParaRPr lang="en-US" sz="36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3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para Operaciones de Rappi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28346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4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Caso Tecnico | AI Engineer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33832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Pablo Gonzalez | Abril 2026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858000" y="1371600"/>
            <a:ext cx="2011680" cy="2011680"/>
          </a:xfrm>
          <a:prstGeom prst="rect">
            <a:avLst/>
          </a:prstGeom>
          <a:solidFill>
            <a:srgbClr val="FF441F">
              <a:alpha val="8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7315200" y="1828800"/>
            <a:ext cx="1554480" cy="1554480"/>
          </a:xfrm>
          <a:prstGeom prst="rect">
            <a:avLst/>
          </a:prstGeom>
          <a:solidFill>
            <a:srgbClr val="FF441F">
              <a:alpha val="7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FF441F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F441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Agenda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411480" cy="411480"/>
          </a:xfrm>
          <a:prstGeom prst="ellipse">
            <a:avLst/>
          </a:prstGeom>
          <a:solidFill>
            <a:srgbClr val="FF441F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2344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371600" y="11887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Contexto y Approach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71600" y="144475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Interpretacion del problema y estrategia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498080" y="1252728"/>
            <a:ext cx="822960" cy="320040"/>
          </a:xfrm>
          <a:prstGeom prst="rect">
            <a:avLst/>
          </a:prstGeom>
          <a:solidFill>
            <a:srgbClr val="F5F6FA"/>
          </a:solidFill>
          <a:ln/>
        </p:spPr>
      </p:sp>
      <p:sp>
        <p:nvSpPr>
          <p:cNvPr id="9" name="Text 7"/>
          <p:cNvSpPr/>
          <p:nvPr/>
        </p:nvSpPr>
        <p:spPr>
          <a:xfrm>
            <a:off x="7498080" y="1252728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4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min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31520" y="1828800"/>
            <a:ext cx="411480" cy="411480"/>
          </a:xfrm>
          <a:prstGeom prst="ellipse">
            <a:avLst/>
          </a:prstGeom>
          <a:solidFill>
            <a:srgbClr val="FF441F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18288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371600" y="1783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del Bot Conversacional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371600" y="203911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tipos de queries en vivo con graficos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498080" y="1847088"/>
            <a:ext cx="822960" cy="320040"/>
          </a:xfrm>
          <a:prstGeom prst="rect">
            <a:avLst/>
          </a:prstGeom>
          <a:solidFill>
            <a:srgbClr val="F5F6FA"/>
          </a:solidFill>
          <a:ln/>
        </p:spPr>
      </p:sp>
      <p:sp>
        <p:nvSpPr>
          <p:cNvPr id="15" name="Text 13"/>
          <p:cNvSpPr/>
          <p:nvPr/>
        </p:nvSpPr>
        <p:spPr>
          <a:xfrm>
            <a:off x="7498080" y="1847088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4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min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31520" y="2423160"/>
            <a:ext cx="411480" cy="411480"/>
          </a:xfrm>
          <a:prstGeom prst="ellipse">
            <a:avLst/>
          </a:prstGeom>
          <a:solidFill>
            <a:srgbClr val="FF441F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24231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371600" y="23774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Insights Automaticos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371600" y="263347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Reporte ejecutivo con anomalias y recomendaciones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498080" y="2441448"/>
            <a:ext cx="822960" cy="320040"/>
          </a:xfrm>
          <a:prstGeom prst="rect">
            <a:avLst/>
          </a:prstGeom>
          <a:solidFill>
            <a:srgbClr val="F5F6FA"/>
          </a:solidFill>
          <a:ln/>
        </p:spPr>
      </p:sp>
      <p:sp>
        <p:nvSpPr>
          <p:cNvPr id="21" name="Text 19"/>
          <p:cNvSpPr/>
          <p:nvPr/>
        </p:nvSpPr>
        <p:spPr>
          <a:xfrm>
            <a:off x="7498080" y="2441448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4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min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31520" y="3017520"/>
            <a:ext cx="411480" cy="411480"/>
          </a:xfrm>
          <a:prstGeom prst="ellipse">
            <a:avLst/>
          </a:prstGeom>
          <a:solidFill>
            <a:srgbClr val="FF441F"/>
          </a:solidFill>
          <a:ln/>
        </p:spPr>
      </p:sp>
      <p:sp>
        <p:nvSpPr>
          <p:cNvPr id="23" name="Text 21"/>
          <p:cNvSpPr/>
          <p:nvPr/>
        </p:nvSpPr>
        <p:spPr>
          <a:xfrm>
            <a:off x="731520" y="30175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371600" y="2971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Decisiones Tecnicas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371600" y="32278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Arquitectura, LLM, trade-offs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498080" y="3035808"/>
            <a:ext cx="822960" cy="320040"/>
          </a:xfrm>
          <a:prstGeom prst="rect">
            <a:avLst/>
          </a:prstGeom>
          <a:solidFill>
            <a:srgbClr val="F5F6FA"/>
          </a:solidFill>
          <a:ln/>
        </p:spPr>
      </p:sp>
      <p:sp>
        <p:nvSpPr>
          <p:cNvPr id="27" name="Text 25"/>
          <p:cNvSpPr/>
          <p:nvPr/>
        </p:nvSpPr>
        <p:spPr>
          <a:xfrm>
            <a:off x="7498080" y="3035808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4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min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31520" y="3611880"/>
            <a:ext cx="411480" cy="411480"/>
          </a:xfrm>
          <a:prstGeom prst="ellipse">
            <a:avLst/>
          </a:prstGeom>
          <a:solidFill>
            <a:srgbClr val="FF441F"/>
          </a:solidFill>
          <a:ln/>
        </p:spPr>
      </p:sp>
      <p:sp>
        <p:nvSpPr>
          <p:cNvPr id="29" name="Text 27"/>
          <p:cNvSpPr/>
          <p:nvPr/>
        </p:nvSpPr>
        <p:spPr>
          <a:xfrm>
            <a:off x="731520" y="36118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371600" y="35661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Limitaciones y Proximos Pasos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371600" y="382219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 mejoraria con mas tiempo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498080" y="3630168"/>
            <a:ext cx="822960" cy="320040"/>
          </a:xfrm>
          <a:prstGeom prst="rect">
            <a:avLst/>
          </a:prstGeom>
          <a:solidFill>
            <a:srgbClr val="F5F6FA"/>
          </a:solidFill>
          <a:ln/>
        </p:spPr>
      </p:sp>
      <p:sp>
        <p:nvSpPr>
          <p:cNvPr id="33" name="Text 31"/>
          <p:cNvSpPr/>
          <p:nvPr/>
        </p:nvSpPr>
        <p:spPr>
          <a:xfrm>
            <a:off x="7498080" y="3630168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4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min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731520" y="4206240"/>
            <a:ext cx="411480" cy="411480"/>
          </a:xfrm>
          <a:prstGeom prst="ellipse">
            <a:avLst/>
          </a:prstGeom>
          <a:solidFill>
            <a:srgbClr val="FF441F"/>
          </a:solidFill>
          <a:ln/>
        </p:spPr>
      </p:sp>
      <p:sp>
        <p:nvSpPr>
          <p:cNvPr id="35" name="Text 33"/>
          <p:cNvSpPr/>
          <p:nvPr/>
        </p:nvSpPr>
        <p:spPr>
          <a:xfrm>
            <a:off x="731520" y="42062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1371600" y="4160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Q&amp;A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1371600" y="441655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Preguntas y respuestas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7498080" y="4224528"/>
            <a:ext cx="822960" cy="320040"/>
          </a:xfrm>
          <a:prstGeom prst="rect">
            <a:avLst/>
          </a:prstGeom>
          <a:solidFill>
            <a:srgbClr val="F5F6FA"/>
          </a:solidFill>
          <a:ln/>
        </p:spPr>
      </p:sp>
      <p:sp>
        <p:nvSpPr>
          <p:cNvPr id="39" name="Text 37"/>
          <p:cNvSpPr/>
          <p:nvPr/>
        </p:nvSpPr>
        <p:spPr>
          <a:xfrm>
            <a:off x="7498080" y="4224528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4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min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441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Contexto del Problema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097280"/>
            <a:ext cx="3566160" cy="1645920"/>
          </a:xfrm>
          <a:prstGeom prst="rect">
            <a:avLst/>
          </a:prstGeom>
          <a:solidFill>
            <a:srgbClr val="F5F6FA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097280"/>
            <a:ext cx="64008" cy="1645920"/>
          </a:xfrm>
          <a:prstGeom prst="rect">
            <a:avLst/>
          </a:prstGeom>
          <a:solidFill>
            <a:srgbClr val="FF441F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2344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Fragmentado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05840" y="164592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datos existen pero requiere conocimiento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tecnico (SQL, Python) para extraer insights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663440" y="1097280"/>
            <a:ext cx="3566160" cy="1645920"/>
          </a:xfrm>
          <a:prstGeom prst="rect">
            <a:avLst/>
          </a:prstGeom>
          <a:solidFill>
            <a:srgbClr val="F5F6FA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63440" y="1097280"/>
            <a:ext cx="64008" cy="1645920"/>
          </a:xfrm>
          <a:prstGeom prst="rect">
            <a:avLst/>
          </a:prstGeom>
          <a:solidFill>
            <a:srgbClr val="FF441F"/>
          </a:solidFill>
          <a:ln/>
        </p:spPr>
      </p:sp>
      <p:sp>
        <p:nvSpPr>
          <p:cNvPr id="10" name="Text 8"/>
          <p:cNvSpPr/>
          <p:nvPr/>
        </p:nvSpPr>
        <p:spPr>
          <a:xfrm>
            <a:off x="4937760" y="12344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Analisis Manual Repetitivo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937760" y="164592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semana los equipos dedican horas 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identificar anomalias y oportunidades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200400" y="30175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4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SOLUCION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31520" y="3474720"/>
            <a:ext cx="7680960" cy="128016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14" name="Text 12"/>
          <p:cNvSpPr/>
          <p:nvPr/>
        </p:nvSpPr>
        <p:spPr>
          <a:xfrm>
            <a:off x="1097280" y="356616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 de IA que democratiza el acceso a datos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 automatiza la generacion de insights accionables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14400" y="41605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4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paises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14400" y="443484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cobertura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834640" y="41605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4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metricas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834640" y="443484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operacionales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754880" y="41605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4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1,000+ zonas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754880" y="443484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geograficas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675120" y="41605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4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semanas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675120" y="443484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datos rolling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441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Arquitectura del Sistema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005840"/>
            <a:ext cx="7680960" cy="914400"/>
          </a:xfrm>
          <a:prstGeom prst="rect">
            <a:avLst/>
          </a:prstGeom>
          <a:solidFill>
            <a:srgbClr val="EBF5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0515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  |  React 19 + Recharts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14400" y="13716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ChatView + ChartRenderer  |  ReportView + Export/Email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200400" y="19659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 / REST API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31520" y="2286000"/>
            <a:ext cx="7680960" cy="1645920"/>
          </a:xfrm>
          <a:prstGeom prst="rect">
            <a:avLst/>
          </a:prstGeom>
          <a:solidFill>
            <a:srgbClr val="FFF5F3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14400" y="2331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4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 |  Python + FastAPI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14400" y="2743200"/>
            <a:ext cx="210312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051560" y="27889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Chatbot Module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51560" y="30632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GPT-4o + 3 Function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Calling Tools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00400" y="2743200"/>
            <a:ext cx="210312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337560" y="27889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Insights Engine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337560" y="30632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Anomalias, tendencias,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benchmarks, correlaciones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486400" y="2743200"/>
            <a:ext cx="210312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623560" y="27889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Loader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623560" y="30632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Pandas + NumPy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~13K filas en memoria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200400" y="4206240"/>
            <a:ext cx="2743200" cy="64008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20" name="Text 18"/>
          <p:cNvSpPr/>
          <p:nvPr/>
        </p:nvSpPr>
        <p:spPr>
          <a:xfrm>
            <a:off x="3200400" y="42062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rappi_data.xlsx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200400" y="45262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RAW_INPUT_METRICS + RAW_ORDERS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441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Bot Conversacional: Function Calling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GPT-4o decide que herramienta invocar segun la pregunta del usuario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1280160"/>
            <a:ext cx="2468880" cy="2011680"/>
          </a:xfrm>
          <a:prstGeom prst="rect">
            <a:avLst/>
          </a:prstGeom>
          <a:solidFill>
            <a:srgbClr val="F5F6FA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280160"/>
            <a:ext cx="246888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4630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analyze_data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182880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Filtrado, ranking,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tendencias, comparaciones,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agregaciones, correlaciones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914400" y="2788920"/>
            <a:ext cx="1097280" cy="274320"/>
          </a:xfrm>
          <a:prstGeom prst="rect">
            <a:avLst/>
          </a:prstGeom>
          <a:solidFill>
            <a:srgbClr val="2563EB">
              <a:alpha val="15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7889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Queries 1-4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474720" y="1280160"/>
            <a:ext cx="2468880" cy="2011680"/>
          </a:xfrm>
          <a:prstGeom prst="rect">
            <a:avLst/>
          </a:prstGeom>
          <a:solidFill>
            <a:srgbClr val="F5F6FA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474720" y="1280160"/>
            <a:ext cx="246888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3" name="Text 11"/>
          <p:cNvSpPr/>
          <p:nvPr/>
        </p:nvSpPr>
        <p:spPr>
          <a:xfrm>
            <a:off x="3657600" y="14630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cross_metric_analysis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657600" y="182880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Cruza dos metricas,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detecta crecimiento/caida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ordenes por zona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0" y="2788920"/>
            <a:ext cx="1097280" cy="274320"/>
          </a:xfrm>
          <a:prstGeom prst="rect">
            <a:avLst/>
          </a:prstGeom>
          <a:solidFill>
            <a:srgbClr val="7C3AED">
              <a:alpha val="15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3657600" y="27889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Queries 5-6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217920" y="1280160"/>
            <a:ext cx="2468880" cy="2011680"/>
          </a:xfrm>
          <a:prstGeom prst="rect">
            <a:avLst/>
          </a:prstGeom>
          <a:solidFill>
            <a:srgbClr val="F5F6FA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217920" y="1280160"/>
            <a:ext cx="246888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0" y="14630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generate_chart_data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00800" y="182880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 datos para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graficos interactivos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(linea, barra, area)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400800" y="2788920"/>
            <a:ext cx="1097280" cy="274320"/>
          </a:xfrm>
          <a:prstGeom prst="rect">
            <a:avLst/>
          </a:prstGeom>
          <a:solidFill>
            <a:srgbClr val="10B981">
              <a:alpha val="15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0" y="27889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BONUS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731520" y="3566160"/>
            <a:ext cx="7680960" cy="128016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24" name="Text 22"/>
          <p:cNvSpPr/>
          <p:nvPr/>
        </p:nvSpPr>
        <p:spPr>
          <a:xfrm>
            <a:off x="1097280" y="365760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4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que Function Calling y no RAG?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097280" y="4023360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Precision numerica: </a:t>
            </a:r>
            <a:pPr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pierde precision al buscar por similitud semantica. Function Calling ejecuta calculos reales.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Queries dinamicas: </a:t>
            </a:r>
            <a:pPr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LLM decide filtros, agrupaciones y tipo de analisis en tiempo real.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hallucinations: </a:t>
            </a:r>
            <a:pPr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datos siempre provienen de Pandas, nunca del LLM.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441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Demo: 6 Tipos de Query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005840"/>
            <a:ext cx="3749040" cy="1097280"/>
          </a:xfrm>
          <a:prstGeom prst="rect">
            <a:avLst/>
          </a:prstGeom>
          <a:solidFill>
            <a:srgbClr val="F5F6FA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097280"/>
            <a:ext cx="320040" cy="320040"/>
          </a:xfrm>
          <a:prstGeom prst="ellipse">
            <a:avLst/>
          </a:prstGeom>
          <a:solidFill>
            <a:srgbClr val="FF441F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0972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325880" y="10972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Filtrado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325880" y="141732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Cuales son las 5 zonas con mayor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 Lead Penetration esta semana?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017520" y="109728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analyze_data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846320" y="1005840"/>
            <a:ext cx="3749040" cy="1097280"/>
          </a:xfrm>
          <a:prstGeom prst="rect">
            <a:avLst/>
          </a:prstGeom>
          <a:solidFill>
            <a:srgbClr val="F5F6FA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983480" y="1097280"/>
            <a:ext cx="320040" cy="320040"/>
          </a:xfrm>
          <a:prstGeom prst="ellipse">
            <a:avLst/>
          </a:prstGeom>
          <a:solidFill>
            <a:srgbClr val="FF441F"/>
          </a:solidFill>
          <a:ln/>
        </p:spPr>
      </p:sp>
      <p:sp>
        <p:nvSpPr>
          <p:cNvPr id="12" name="Text 10"/>
          <p:cNvSpPr/>
          <p:nvPr/>
        </p:nvSpPr>
        <p:spPr>
          <a:xfrm>
            <a:off x="4983480" y="10972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40680" y="10972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Comparaciones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40680" y="141732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 Perfect Order entre zonas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Wealthy y Non Wealthy en Mexico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132320" y="109728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analyze_data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731520" y="2286000"/>
            <a:ext cx="3749040" cy="1097280"/>
          </a:xfrm>
          <a:prstGeom prst="rect">
            <a:avLst/>
          </a:prstGeom>
          <a:solidFill>
            <a:srgbClr val="F5F6FA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68680" y="2377440"/>
            <a:ext cx="320040" cy="320040"/>
          </a:xfrm>
          <a:prstGeom prst="ellipse">
            <a:avLst/>
          </a:prstGeom>
          <a:solidFill>
            <a:srgbClr val="FF441F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23774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325880" y="23774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Tendencias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325880" y="269748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Evolucion de Gross Profit UE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Chapinero ultimas 8 semanas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017520" y="237744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analyze_data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846320" y="2286000"/>
            <a:ext cx="3749040" cy="1097280"/>
          </a:xfrm>
          <a:prstGeom prst="rect">
            <a:avLst/>
          </a:prstGeom>
          <a:solidFill>
            <a:srgbClr val="F5F6FA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983480" y="2377440"/>
            <a:ext cx="320040" cy="320040"/>
          </a:xfrm>
          <a:prstGeom prst="ellipse">
            <a:avLst/>
          </a:prstGeom>
          <a:solidFill>
            <a:srgbClr val="FF441F"/>
          </a:solidFill>
          <a:ln/>
        </p:spPr>
      </p:sp>
      <p:sp>
        <p:nvSpPr>
          <p:cNvPr id="24" name="Text 22"/>
          <p:cNvSpPr/>
          <p:nvPr/>
        </p:nvSpPr>
        <p:spPr>
          <a:xfrm>
            <a:off x="4983480" y="23774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440680" y="23774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Agregaciones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440680" y="269748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Cual es el promedio de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 Penetration por pais?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132320" y="237744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analyze_data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731520" y="3566160"/>
            <a:ext cx="3749040" cy="1097280"/>
          </a:xfrm>
          <a:prstGeom prst="rect">
            <a:avLst/>
          </a:prstGeom>
          <a:solidFill>
            <a:srgbClr val="F5F6FA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868680" y="3657600"/>
            <a:ext cx="320040" cy="320040"/>
          </a:xfrm>
          <a:prstGeom prst="ellipse">
            <a:avLst/>
          </a:prstGeom>
          <a:solidFill>
            <a:srgbClr val="FF441F"/>
          </a:solidFill>
          <a:ln/>
        </p:spPr>
      </p:sp>
      <p:sp>
        <p:nvSpPr>
          <p:cNvPr id="30" name="Text 28"/>
          <p:cNvSpPr/>
          <p:nvPr/>
        </p:nvSpPr>
        <p:spPr>
          <a:xfrm>
            <a:off x="868680" y="36576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325880" y="3657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Multivariable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325880" y="397764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Zonas con alto Lead Penetration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pero bajo Perfect Order?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017520" y="365760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cross_metric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4846320" y="3566160"/>
            <a:ext cx="3749040" cy="1097280"/>
          </a:xfrm>
          <a:prstGeom prst="rect">
            <a:avLst/>
          </a:prstGeom>
          <a:solidFill>
            <a:srgbClr val="F5F6FA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983480" y="3657600"/>
            <a:ext cx="320040" cy="320040"/>
          </a:xfrm>
          <a:prstGeom prst="ellipse">
            <a:avLst/>
          </a:prstGeom>
          <a:solidFill>
            <a:srgbClr val="FF441F"/>
          </a:solidFill>
          <a:ln/>
        </p:spPr>
      </p:sp>
      <p:sp>
        <p:nvSpPr>
          <p:cNvPr id="36" name="Text 34"/>
          <p:cNvSpPr/>
          <p:nvPr/>
        </p:nvSpPr>
        <p:spPr>
          <a:xfrm>
            <a:off x="4983480" y="36576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5440680" y="3657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Inferencia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5440680" y="397764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Zonas que mas crecen en ordenes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 que explica el crecimiento?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7132320" y="365760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cross_metric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731520" y="466344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4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EN VIVO - Cada query se ejecuta en tiempo real contra los datos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441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Sistema de Insights Automaticos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1554480" cy="1828800"/>
          </a:xfrm>
          <a:prstGeom prst="rect">
            <a:avLst/>
          </a:prstGeom>
          <a:solidFill>
            <a:srgbClr val="F5F6FA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05840"/>
            <a:ext cx="1554480" cy="5486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1887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DC262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~30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16459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Anomalias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196596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Z-score &gt; 2 sigma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Cambios subitos WoW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148840" y="1005840"/>
            <a:ext cx="1554480" cy="1828800"/>
          </a:xfrm>
          <a:prstGeom prst="rect">
            <a:avLst/>
          </a:prstGeom>
          <a:solidFill>
            <a:srgbClr val="F5F6FA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148840" y="1005840"/>
            <a:ext cx="155448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1" name="Text 9"/>
          <p:cNvSpPr/>
          <p:nvPr/>
        </p:nvSpPr>
        <p:spPr>
          <a:xfrm>
            <a:off x="2148840" y="11887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~25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2148840" y="16459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Tendencias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240280" y="196596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3+ semanas de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deterioro consecutivo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840480" y="1005840"/>
            <a:ext cx="1554480" cy="1828800"/>
          </a:xfrm>
          <a:prstGeom prst="rect">
            <a:avLst/>
          </a:prstGeom>
          <a:solidFill>
            <a:srgbClr val="F5F6FA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840480" y="1005840"/>
            <a:ext cx="155448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6" name="Text 14"/>
          <p:cNvSpPr/>
          <p:nvPr/>
        </p:nvSpPr>
        <p:spPr>
          <a:xfrm>
            <a:off x="3840480" y="11887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2563E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~39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3840480" y="16459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Benchmarking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931920" y="196596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Pais vs pais, Wealthy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 Non-Wealthy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532120" y="1005840"/>
            <a:ext cx="1554480" cy="1828800"/>
          </a:xfrm>
          <a:prstGeom prst="rect">
            <a:avLst/>
          </a:prstGeom>
          <a:solidFill>
            <a:srgbClr val="F5F6FA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532120" y="1005840"/>
            <a:ext cx="155448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1" name="Text 19"/>
          <p:cNvSpPr/>
          <p:nvPr/>
        </p:nvSpPr>
        <p:spPr>
          <a:xfrm>
            <a:off x="5532120" y="11887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7C3A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~20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5532120" y="16459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Correlaciones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623560" y="196596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Pearson matrix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 13 metricas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7223760" y="1005840"/>
            <a:ext cx="1554480" cy="1828800"/>
          </a:xfrm>
          <a:prstGeom prst="rect">
            <a:avLst/>
          </a:prstGeom>
          <a:solidFill>
            <a:srgbClr val="F5F6FA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223760" y="1005840"/>
            <a:ext cx="155448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6" name="Text 24"/>
          <p:cNvSpPr/>
          <p:nvPr/>
        </p:nvSpPr>
        <p:spPr>
          <a:xfrm>
            <a:off x="7223760" y="11887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~30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7223760" y="16459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Oportunidades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315200" y="196596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Gaps de adopcion,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momentum positivo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731520" y="3108960"/>
            <a:ext cx="7680960" cy="173736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0" name="Text 28"/>
          <p:cNvSpPr/>
          <p:nvPr/>
        </p:nvSpPr>
        <p:spPr>
          <a:xfrm>
            <a:off x="1097280" y="320040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4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Reporte Ejecutivo Generado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280160" y="361188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Resumen Ejecutivo:  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383280" y="361188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3-5 hallazgos criticos con impacto de negocio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280160" y="390448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Detalle por Categoria:  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3383280" y="390448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insight con datos, contexto y severidad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1280160" y="419709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Recomendaciones:  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3383280" y="419709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5-7 acciones priorizadas por impacto y urgencia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1280160" y="448970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Formatos de Salida:  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3383280" y="4489704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Markdown descargable + HTML estilizado con branding Rappi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441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Bonus Features Implementados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005840"/>
            <a:ext cx="2468880" cy="2743200"/>
          </a:xfrm>
          <a:prstGeom prst="rect">
            <a:avLst/>
          </a:prstGeom>
          <a:solidFill>
            <a:srgbClr val="F5F6FA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005840"/>
            <a:ext cx="246888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Shape 4"/>
          <p:cNvSpPr/>
          <p:nvPr/>
        </p:nvSpPr>
        <p:spPr>
          <a:xfrm>
            <a:off x="2194560" y="1143000"/>
            <a:ext cx="822960" cy="2286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2194560" y="114300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BONUS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914400" y="14630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Visualizacion con Graficos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1920240"/>
            <a:ext cx="2103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Graficos de linea, barra y area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Recharts (React)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LLM decide cuando generar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grafico automaticamente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0" y="1005840"/>
            <a:ext cx="2468880" cy="2743200"/>
          </a:xfrm>
          <a:prstGeom prst="rect">
            <a:avLst/>
          </a:prstGeom>
          <a:solidFill>
            <a:srgbClr val="F5F6FA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474720" y="1005840"/>
            <a:ext cx="246888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2" name="Shape 10"/>
          <p:cNvSpPr/>
          <p:nvPr/>
        </p:nvSpPr>
        <p:spPr>
          <a:xfrm>
            <a:off x="4937760" y="1143000"/>
            <a:ext cx="822960" cy="2286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3" name="Text 11"/>
          <p:cNvSpPr/>
          <p:nvPr/>
        </p:nvSpPr>
        <p:spPr>
          <a:xfrm>
            <a:off x="4937760" y="114300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BONUS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657600" y="14630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Exportacion CSV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657600" y="1920240"/>
            <a:ext cx="2103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Exportar conversacion del chat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Exportar datos filtrados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Exportar insights del reporte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CSV estructurado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17920" y="1005840"/>
            <a:ext cx="2468880" cy="2743200"/>
          </a:xfrm>
          <a:prstGeom prst="rect">
            <a:avLst/>
          </a:prstGeom>
          <a:solidFill>
            <a:srgbClr val="F5F6FA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17920" y="1005840"/>
            <a:ext cx="246888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8" name="Shape 16"/>
          <p:cNvSpPr/>
          <p:nvPr/>
        </p:nvSpPr>
        <p:spPr>
          <a:xfrm>
            <a:off x="7680960" y="1143000"/>
            <a:ext cx="822960" cy="2286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9" name="Text 17"/>
          <p:cNvSpPr/>
          <p:nvPr/>
        </p:nvSpPr>
        <p:spPr>
          <a:xfrm>
            <a:off x="7680960" y="114300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BONUS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6400800" y="14630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Envio por Email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00800" y="1920240"/>
            <a:ext cx="2103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Boton integrado en el reporte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 estilizado + MD adjunto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Configuracion SMTP flexible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(Gmail, Outlook, etc.)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441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Stack Tecnologico y Costos</a:t>
            </a:r>
            <a:endParaRPr lang="en-US" sz="28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914400"/>
          <a:ext cx="768096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2194560"/>
                <a:gridCol w="402336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Componente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Tecnologia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Justificacion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LLM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GPT-4o (OpenAI)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Function calling nativo, precision, velocidad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Backend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Python 3.12 + FastAPI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Pandas/NumPy, async, Pydantic, OpenAPI docs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Frontend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React 19 + Recharts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Componentes, markdown, graficos interactivos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Datos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Pandas + NumPy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13K filas en memoria, z-score, correlacion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Email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smtplib (stdlib)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Sin dependencias externas, soporte TLS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31520" y="914400"/>
            <a:ext cx="7680960" cy="320040"/>
          </a:xfrm>
          <a:prstGeom prst="rect">
            <a:avLst/>
          </a:prstGeom>
          <a:solidFill>
            <a:srgbClr val="FF441F"/>
          </a:solidFill>
          <a:ln/>
        </p:spPr>
      </p:sp>
      <p:sp>
        <p:nvSpPr>
          <p:cNvPr id="6" name="Text 3"/>
          <p:cNvSpPr/>
          <p:nvPr/>
        </p:nvSpPr>
        <p:spPr>
          <a:xfrm>
            <a:off x="822960" y="9144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Componente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2194560" y="9144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Tecnologia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389120" y="9144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Justificacion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31520" y="292608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Estimacion de Costos (OpenAI GPT-4o)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731520" y="3383280"/>
            <a:ext cx="1828800" cy="1371600"/>
          </a:xfrm>
          <a:prstGeom prst="rect">
            <a:avLst/>
          </a:prstGeom>
          <a:solidFill>
            <a:srgbClr val="F5F6FA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731520" y="35204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441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~$0.01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731520" y="39776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Pregunta Simple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731520" y="42519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tool call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2743200" y="3383280"/>
            <a:ext cx="1828800" cy="1371600"/>
          </a:xfrm>
          <a:prstGeom prst="rect">
            <a:avLst/>
          </a:prstGeom>
          <a:solidFill>
            <a:srgbClr val="F5F6FA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2743200" y="35204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441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~$0.03</a:t>
            </a:r>
            <a:endParaRPr lang="en-US" sz="2400" dirty="0"/>
          </a:p>
        </p:txBody>
      </p:sp>
      <p:sp>
        <p:nvSpPr>
          <p:cNvPr id="16" name="Text 13"/>
          <p:cNvSpPr/>
          <p:nvPr/>
        </p:nvSpPr>
        <p:spPr>
          <a:xfrm>
            <a:off x="2743200" y="39776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Pregunta Compleja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2743200" y="42519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2-3 tool calls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4754880" y="3383280"/>
            <a:ext cx="1828800" cy="1371600"/>
          </a:xfrm>
          <a:prstGeom prst="rect">
            <a:avLst/>
          </a:prstGeom>
          <a:solidFill>
            <a:srgbClr val="F5F6FA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4754880" y="35204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441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~$0.20</a:t>
            </a:r>
            <a:endParaRPr lang="en-US" sz="2400" dirty="0"/>
          </a:p>
        </p:txBody>
      </p:sp>
      <p:sp>
        <p:nvSpPr>
          <p:cNvPr id="20" name="Text 17"/>
          <p:cNvSpPr/>
          <p:nvPr/>
        </p:nvSpPr>
        <p:spPr>
          <a:xfrm>
            <a:off x="4754880" y="39776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Sesion (10 preguntas)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4754880" y="42519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Uso tipico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6766560" y="3383280"/>
            <a:ext cx="1828800" cy="1371600"/>
          </a:xfrm>
          <a:prstGeom prst="rect">
            <a:avLst/>
          </a:prstGeom>
          <a:solidFill>
            <a:srgbClr val="F5F6FA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6766560" y="35204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441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~$0.05</a:t>
            </a:r>
            <a:endParaRPr lang="en-US" sz="2400" dirty="0"/>
          </a:p>
        </p:txBody>
      </p:sp>
      <p:sp>
        <p:nvSpPr>
          <p:cNvPr id="24" name="Text 21"/>
          <p:cNvSpPr/>
          <p:nvPr/>
        </p:nvSpPr>
        <p:spPr>
          <a:xfrm>
            <a:off x="6766560" y="39776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Reporte Ejecutivo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6766560" y="42519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Generacion completa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731520" y="4754880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Costo mensual estimado (50 sesiones/dia, 20 dias): ~$150 - $250 USD/mes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441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Limitaciones y Proximos Pasos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005840"/>
            <a:ext cx="3657600" cy="3200400"/>
          </a:xfrm>
          <a:prstGeom prst="rect">
            <a:avLst/>
          </a:prstGeom>
          <a:solidFill>
            <a:srgbClr val="F5F6FA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0972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Limitaciones Actuales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97280" y="150876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Datos estaticos (snapshot Excel, no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conexion en tiempo real a warehouse)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97280" y="214884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autenticacion de usuarios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97280" y="278892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persistencia de conversaciones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 sesiones del navegador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97280" y="342900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Reporte toma ~30-60 seg en generarse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(depende de latencia de OpenAI)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54880" y="1005840"/>
            <a:ext cx="3657600" cy="3200400"/>
          </a:xfrm>
          <a:prstGeom prst="rect">
            <a:avLst/>
          </a:prstGeom>
          <a:solidFill>
            <a:srgbClr val="F5F6FA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937760" y="10972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Proximos Pasos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120640" y="150876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Conexion a datos en vivo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(Snowflake/BigQuery)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120640" y="214884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Alertas proactivas via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Slack/email con anomalias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120640" y="278892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Multi-usuario con OAuth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 roles personalizados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120640" y="342900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Streaming de respuestas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(Server-Sent Events)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441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Checklist de Requerimientos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8686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4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 Conversacional (70%)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234440"/>
            <a:ext cx="182880" cy="1828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23444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OK</a:t>
            </a:r>
            <a:endParaRPr lang="en-US" sz="600" dirty="0"/>
          </a:p>
        </p:txBody>
      </p:sp>
      <p:sp>
        <p:nvSpPr>
          <p:cNvPr id="7" name="Text 5"/>
          <p:cNvSpPr/>
          <p:nvPr/>
        </p:nvSpPr>
        <p:spPr>
          <a:xfrm>
            <a:off x="1051560" y="121615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tipos de query complejas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31520" y="1508760"/>
            <a:ext cx="182880" cy="1828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50876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OK</a:t>
            </a:r>
            <a:endParaRPr lang="en-US" sz="600" dirty="0"/>
          </a:p>
        </p:txBody>
      </p:sp>
      <p:sp>
        <p:nvSpPr>
          <p:cNvPr id="10" name="Text 8"/>
          <p:cNvSpPr/>
          <p:nvPr/>
        </p:nvSpPr>
        <p:spPr>
          <a:xfrm>
            <a:off x="1051560" y="149047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Contexto de negocio Rappi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31520" y="1783080"/>
            <a:ext cx="182880" cy="1828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178308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OK</a:t>
            </a:r>
            <a:endParaRPr lang="en-US" sz="600" dirty="0"/>
          </a:p>
        </p:txBody>
      </p:sp>
      <p:sp>
        <p:nvSpPr>
          <p:cNvPr id="13" name="Text 11"/>
          <p:cNvSpPr/>
          <p:nvPr/>
        </p:nvSpPr>
        <p:spPr>
          <a:xfrm>
            <a:off x="1051560" y="176479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Sugerencias proactivas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31520" y="2057400"/>
            <a:ext cx="182880" cy="1828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205740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OK</a:t>
            </a:r>
            <a:endParaRPr lang="en-US" sz="600" dirty="0"/>
          </a:p>
        </p:txBody>
      </p:sp>
      <p:sp>
        <p:nvSpPr>
          <p:cNvPr id="16" name="Text 14"/>
          <p:cNvSpPr/>
          <p:nvPr/>
        </p:nvSpPr>
        <p:spPr>
          <a:xfrm>
            <a:off x="1051560" y="203911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Memoria conversacional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31520" y="2331720"/>
            <a:ext cx="182880" cy="1828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233172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OK</a:t>
            </a:r>
            <a:endParaRPr lang="en-US" sz="600" dirty="0"/>
          </a:p>
        </p:txBody>
      </p:sp>
      <p:sp>
        <p:nvSpPr>
          <p:cNvPr id="19" name="Text 17"/>
          <p:cNvSpPr/>
          <p:nvPr/>
        </p:nvSpPr>
        <p:spPr>
          <a:xfrm>
            <a:off x="1051560" y="231343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BONUS: Graficos interactivos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31520" y="2606040"/>
            <a:ext cx="182880" cy="1828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260604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OK</a:t>
            </a:r>
            <a:endParaRPr lang="en-US" sz="600" dirty="0"/>
          </a:p>
        </p:txBody>
      </p:sp>
      <p:sp>
        <p:nvSpPr>
          <p:cNvPr id="22" name="Text 20"/>
          <p:cNvSpPr/>
          <p:nvPr/>
        </p:nvSpPr>
        <p:spPr>
          <a:xfrm>
            <a:off x="1051560" y="258775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BONUS: Exportacion CSV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754880" y="8686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4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Insights Automaticos (30%)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754880" y="1234440"/>
            <a:ext cx="182880" cy="1828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5" name="Text 23"/>
          <p:cNvSpPr/>
          <p:nvPr/>
        </p:nvSpPr>
        <p:spPr>
          <a:xfrm>
            <a:off x="4754880" y="123444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OK</a:t>
            </a:r>
            <a:endParaRPr lang="en-US" sz="600" dirty="0"/>
          </a:p>
        </p:txBody>
      </p:sp>
      <p:sp>
        <p:nvSpPr>
          <p:cNvPr id="26" name="Text 24"/>
          <p:cNvSpPr/>
          <p:nvPr/>
        </p:nvSpPr>
        <p:spPr>
          <a:xfrm>
            <a:off x="5074920" y="121615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Anomalias (z-score estadistico)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754880" y="1508760"/>
            <a:ext cx="182880" cy="1828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8" name="Text 26"/>
          <p:cNvSpPr/>
          <p:nvPr/>
        </p:nvSpPr>
        <p:spPr>
          <a:xfrm>
            <a:off x="4754880" y="150876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OK</a:t>
            </a:r>
            <a:endParaRPr lang="en-US" sz="600" dirty="0"/>
          </a:p>
        </p:txBody>
      </p:sp>
      <p:sp>
        <p:nvSpPr>
          <p:cNvPr id="29" name="Text 27"/>
          <p:cNvSpPr/>
          <p:nvPr/>
        </p:nvSpPr>
        <p:spPr>
          <a:xfrm>
            <a:off x="5074920" y="149047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Tendencias preocupantes (3+ sem)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754880" y="1783080"/>
            <a:ext cx="182880" cy="1828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1" name="Text 29"/>
          <p:cNvSpPr/>
          <p:nvPr/>
        </p:nvSpPr>
        <p:spPr>
          <a:xfrm>
            <a:off x="4754880" y="178308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OK</a:t>
            </a:r>
            <a:endParaRPr lang="en-US" sz="600" dirty="0"/>
          </a:p>
        </p:txBody>
      </p:sp>
      <p:sp>
        <p:nvSpPr>
          <p:cNvPr id="32" name="Text 30"/>
          <p:cNvSpPr/>
          <p:nvPr/>
        </p:nvSpPr>
        <p:spPr>
          <a:xfrm>
            <a:off x="5074920" y="176479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Benchmarking (pais/zona/prior.)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754880" y="2057400"/>
            <a:ext cx="182880" cy="1828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4" name="Text 32"/>
          <p:cNvSpPr/>
          <p:nvPr/>
        </p:nvSpPr>
        <p:spPr>
          <a:xfrm>
            <a:off x="4754880" y="205740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OK</a:t>
            </a:r>
            <a:endParaRPr lang="en-US" sz="600" dirty="0"/>
          </a:p>
        </p:txBody>
      </p:sp>
      <p:sp>
        <p:nvSpPr>
          <p:cNvPr id="35" name="Text 33"/>
          <p:cNvSpPr/>
          <p:nvPr/>
        </p:nvSpPr>
        <p:spPr>
          <a:xfrm>
            <a:off x="5074920" y="203911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Correlaciones (Pearson matrix)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754880" y="2331720"/>
            <a:ext cx="182880" cy="1828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7" name="Text 35"/>
          <p:cNvSpPr/>
          <p:nvPr/>
        </p:nvSpPr>
        <p:spPr>
          <a:xfrm>
            <a:off x="4754880" y="233172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OK</a:t>
            </a:r>
            <a:endParaRPr lang="en-US" sz="600" dirty="0"/>
          </a:p>
        </p:txBody>
      </p:sp>
      <p:sp>
        <p:nvSpPr>
          <p:cNvPr id="38" name="Text 36"/>
          <p:cNvSpPr/>
          <p:nvPr/>
        </p:nvSpPr>
        <p:spPr>
          <a:xfrm>
            <a:off x="5074920" y="231343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Oportunidades de mejora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754880" y="2606040"/>
            <a:ext cx="182880" cy="1828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0" name="Text 38"/>
          <p:cNvSpPr/>
          <p:nvPr/>
        </p:nvSpPr>
        <p:spPr>
          <a:xfrm>
            <a:off x="4754880" y="260604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OK</a:t>
            </a:r>
            <a:endParaRPr lang="en-US" sz="600" dirty="0"/>
          </a:p>
        </p:txBody>
      </p:sp>
      <p:sp>
        <p:nvSpPr>
          <p:cNvPr id="41" name="Text 39"/>
          <p:cNvSpPr/>
          <p:nvPr/>
        </p:nvSpPr>
        <p:spPr>
          <a:xfrm>
            <a:off x="5074920" y="258775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Reporte ejecutivo estructurado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754880" y="2880360"/>
            <a:ext cx="182880" cy="1828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3" name="Text 41"/>
          <p:cNvSpPr/>
          <p:nvPr/>
        </p:nvSpPr>
        <p:spPr>
          <a:xfrm>
            <a:off x="4754880" y="288036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OK</a:t>
            </a:r>
            <a:endParaRPr lang="en-US" sz="600" dirty="0"/>
          </a:p>
        </p:txBody>
      </p:sp>
      <p:sp>
        <p:nvSpPr>
          <p:cNvPr id="44" name="Text 42"/>
          <p:cNvSpPr/>
          <p:nvPr/>
        </p:nvSpPr>
        <p:spPr>
          <a:xfrm>
            <a:off x="5074920" y="286207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Recomendaciones accionables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4754880" y="3154680"/>
            <a:ext cx="182880" cy="1828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6" name="Text 44"/>
          <p:cNvSpPr/>
          <p:nvPr/>
        </p:nvSpPr>
        <p:spPr>
          <a:xfrm>
            <a:off x="4754880" y="315468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OK</a:t>
            </a:r>
            <a:endParaRPr lang="en-US" sz="600" dirty="0"/>
          </a:p>
        </p:txBody>
      </p:sp>
      <p:sp>
        <p:nvSpPr>
          <p:cNvPr id="47" name="Text 45"/>
          <p:cNvSpPr/>
          <p:nvPr/>
        </p:nvSpPr>
        <p:spPr>
          <a:xfrm>
            <a:off x="5074920" y="313639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Formato Markdown + HTML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4754880" y="3429000"/>
            <a:ext cx="182880" cy="1828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9" name="Text 47"/>
          <p:cNvSpPr/>
          <p:nvPr/>
        </p:nvSpPr>
        <p:spPr>
          <a:xfrm>
            <a:off x="4754880" y="342900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OK</a:t>
            </a:r>
            <a:endParaRPr lang="en-US" sz="600" dirty="0"/>
          </a:p>
        </p:txBody>
      </p:sp>
      <p:sp>
        <p:nvSpPr>
          <p:cNvPr id="50" name="Text 48"/>
          <p:cNvSpPr/>
          <p:nvPr/>
        </p:nvSpPr>
        <p:spPr>
          <a:xfrm>
            <a:off x="5074920" y="341071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BONUS: Envio por email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731520" y="3840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4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Documentacion</a:t>
            </a:r>
            <a:endParaRPr lang="en-US" sz="1400" dirty="0"/>
          </a:p>
        </p:txBody>
      </p:sp>
      <p:sp>
        <p:nvSpPr>
          <p:cNvPr id="52" name="Shape 50"/>
          <p:cNvSpPr/>
          <p:nvPr/>
        </p:nvSpPr>
        <p:spPr>
          <a:xfrm>
            <a:off x="731520" y="4160520"/>
            <a:ext cx="182880" cy="16459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53" name="Text 51"/>
          <p:cNvSpPr/>
          <p:nvPr/>
        </p:nvSpPr>
        <p:spPr>
          <a:xfrm>
            <a:off x="731520" y="4160520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OK</a:t>
            </a:r>
            <a:endParaRPr lang="en-US" sz="600" dirty="0"/>
          </a:p>
        </p:txBody>
      </p:sp>
      <p:sp>
        <p:nvSpPr>
          <p:cNvPr id="54" name="Text 52"/>
          <p:cNvSpPr/>
          <p:nvPr/>
        </p:nvSpPr>
        <p:spPr>
          <a:xfrm>
            <a:off x="1051560" y="414223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README con instrucciones completas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731520" y="4389120"/>
            <a:ext cx="182880" cy="16459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56" name="Text 54"/>
          <p:cNvSpPr/>
          <p:nvPr/>
        </p:nvSpPr>
        <p:spPr>
          <a:xfrm>
            <a:off x="731520" y="4389120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OK</a:t>
            </a:r>
            <a:endParaRPr lang="en-US" sz="600" dirty="0"/>
          </a:p>
        </p:txBody>
      </p:sp>
      <p:sp>
        <p:nvSpPr>
          <p:cNvPr id="57" name="Text 55"/>
          <p:cNvSpPr/>
          <p:nvPr/>
        </p:nvSpPr>
        <p:spPr>
          <a:xfrm>
            <a:off x="1051560" y="437083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Estructura organizada del proyecto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731520" y="4617720"/>
            <a:ext cx="182880" cy="16459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59" name="Text 57"/>
          <p:cNvSpPr/>
          <p:nvPr/>
        </p:nvSpPr>
        <p:spPr>
          <a:xfrm>
            <a:off x="731520" y="4617720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OK</a:t>
            </a:r>
            <a:endParaRPr lang="en-US" sz="600" dirty="0"/>
          </a:p>
        </p:txBody>
      </p:sp>
      <p:sp>
        <p:nvSpPr>
          <p:cNvPr id="60" name="Text 58"/>
          <p:cNvSpPr/>
          <p:nvPr/>
        </p:nvSpPr>
        <p:spPr>
          <a:xfrm>
            <a:off x="1051560" y="459943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.gitignore para proteger credenciales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731520" y="4846320"/>
            <a:ext cx="182880" cy="16459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62" name="Text 60"/>
          <p:cNvSpPr/>
          <p:nvPr/>
        </p:nvSpPr>
        <p:spPr>
          <a:xfrm>
            <a:off x="731520" y="4846320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OK</a:t>
            </a:r>
            <a:endParaRPr lang="en-US" sz="600" dirty="0"/>
          </a:p>
        </p:txBody>
      </p:sp>
      <p:sp>
        <p:nvSpPr>
          <p:cNvPr id="63" name="Text 61"/>
          <p:cNvSpPr/>
          <p:nvPr/>
        </p:nvSpPr>
        <p:spPr>
          <a:xfrm>
            <a:off x="1051560" y="482803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Estimacion de costos por uso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441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18872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Gracias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731520" y="21031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4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Preguntas y Respuestas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286000" y="3017520"/>
            <a:ext cx="4572000" cy="137160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2286000" y="3017520"/>
            <a:ext cx="4572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Pablo Gonzalez</a:t>
            </a:r>
            <a:endParaRPr lang="en-US" sz="16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Engineer Candidate</a:t>
            </a:r>
            <a:endParaRPr lang="en-US" sz="16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
</a:t>
            </a:r>
            <a:endParaRPr lang="en-US" sz="16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4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github.com/Sistema_Automatizado_Rappi_Chatbot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FF441F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Sistema de Analisis Inteligente para Operaciones de Rappi</dc:title>
  <dc:subject>PptxGenJS Presentation</dc:subject>
  <dc:creator>Pablo Gonzalez</dc:creator>
  <cp:lastModifiedBy>Pablo Gonzalez</cp:lastModifiedBy>
  <cp:revision>1</cp:revision>
  <dcterms:created xsi:type="dcterms:W3CDTF">2026-04-14T02:54:36Z</dcterms:created>
  <dcterms:modified xsi:type="dcterms:W3CDTF">2026-04-14T02:54:36Z</dcterms:modified>
</cp:coreProperties>
</file>